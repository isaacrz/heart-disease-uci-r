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03120"/>
            <a:ext cx="1072591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Análisis Exploratorio y Clusterización de Pacientes con Enfermedad Cardíaca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4114800"/>
            <a:ext cx="10725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Heart Disease UCI · EDA, PCA y K-Means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Diccionario de variables (principales)</a:t>
            </a:r>
            <a:endParaRPr lang="en-US" sz="2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1672" cy="914400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39389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Variable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Tipo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Descripción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2"/>
                    </a:solidFill>
                  </a:tcPr>
                </a:tc>
              </a:tr>
              <a:tr h="39389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B32"/>
                          </a:solidFill>
                        </a:rPr>
                        <a:t>age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B32"/>
                          </a:solidFill>
                        </a:rPr>
                        <a:t>integer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B32"/>
                          </a:solidFill>
                        </a:rPr>
                        <a:t>Edad del paciente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89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B32"/>
                          </a:solidFill>
                        </a:rPr>
                        <a:t>sex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B32"/>
                          </a:solidFill>
                        </a:rPr>
                        <a:t>character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B32"/>
                          </a:solidFill>
                        </a:rPr>
                        <a:t>Sexo del paciente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89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B32"/>
                          </a:solidFill>
                        </a:rPr>
                        <a:t>dataset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B32"/>
                          </a:solidFill>
                        </a:rPr>
                        <a:t>character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B32"/>
                          </a:solidFill>
                        </a:rPr>
                        <a:t>Centro médico de origen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89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B32"/>
                          </a:solidFill>
                        </a:rPr>
                        <a:t>cp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B32"/>
                          </a:solidFill>
                        </a:rPr>
                        <a:t>character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B32"/>
                          </a:solidFill>
                        </a:rPr>
                        <a:t>Tipo de dolor de pecho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89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B32"/>
                          </a:solidFill>
                        </a:rPr>
                        <a:t>trestbps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B32"/>
                          </a:solidFill>
                        </a:rPr>
                        <a:t>integer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B32"/>
                          </a:solidFill>
                        </a:rPr>
                        <a:t>Presión arterial en reposo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89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B32"/>
                          </a:solidFill>
                        </a:rPr>
                        <a:t>chol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B32"/>
                          </a:solidFill>
                        </a:rPr>
                        <a:t>integer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B32"/>
                          </a:solidFill>
                        </a:rPr>
                        <a:t>Colesterol sérico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89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B32"/>
                          </a:solidFill>
                        </a:rPr>
                        <a:t>thalch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B32"/>
                          </a:solidFill>
                        </a:rPr>
                        <a:t>integer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B32"/>
                          </a:solidFill>
                        </a:rPr>
                        <a:t>Frecuencia cardíaca máxima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89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B32"/>
                          </a:solidFill>
                        </a:rPr>
                        <a:t>exang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B32"/>
                          </a:solidFill>
                        </a:rPr>
                        <a:t>logical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B32"/>
                          </a:solidFill>
                        </a:rPr>
                        <a:t>Angina inducida por ejercicio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89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B32"/>
                          </a:solidFill>
                        </a:rPr>
                        <a:t>oldpeak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B32"/>
                          </a:solidFill>
                        </a:rPr>
                        <a:t>double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B32"/>
                          </a:solidFill>
                        </a:rPr>
                        <a:t>Depresión del segmento 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89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B32"/>
                          </a:solidFill>
                        </a:rPr>
                        <a:t>ca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B32"/>
                          </a:solidFill>
                        </a:rPr>
                        <a:t>integer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B32"/>
                          </a:solidFill>
                        </a:rPr>
                        <a:t>Vasos coloreados por fluoroscopía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89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B32"/>
                          </a:solidFill>
                        </a:rPr>
                        <a:t>thal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B32"/>
                          </a:solidFill>
                        </a:rPr>
                        <a:t>character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B32"/>
                          </a:solidFill>
                        </a:rPr>
                        <a:t>Resultado de la prueba de talio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89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B32"/>
                          </a:solidFill>
                        </a:rPr>
                        <a:t>num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B32"/>
                          </a:solidFill>
                        </a:rPr>
                        <a:t>integer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B32"/>
                          </a:solidFill>
                        </a:rPr>
                        <a:t>Severidad de la enfermedad (0-4)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Prevalencia de enfermedad por centro médico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1672" cy="914400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Centro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Ausencia (%)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Presencia (%)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Cleveland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54.3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45.7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Hungary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63.8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36.2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Switzerland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6.5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93.5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VA Long Beach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25.5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74.5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Valores faltantes por centro médico</a:t>
            </a:r>
            <a:endParaRPr lang="en-US" sz="2600" dirty="0"/>
          </a:p>
        </p:txBody>
      </p:sp>
      <p:pic>
        <p:nvPicPr>
          <p:cNvPr id="3" name="Image 0" descr="media/img_0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0028" y="1325880"/>
            <a:ext cx="7168896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Distribuciones de las variables numéricas</a:t>
            </a:r>
            <a:endParaRPr lang="en-US" sz="2600" dirty="0"/>
          </a:p>
        </p:txBody>
      </p:sp>
      <p:pic>
        <p:nvPicPr>
          <p:cNvPr id="3" name="Image 0" descr="media/img_0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0028" y="1325880"/>
            <a:ext cx="7168896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Distribución de las variables categóricas</a:t>
            </a:r>
            <a:endParaRPr lang="en-US" sz="2600" dirty="0"/>
          </a:p>
        </p:txBody>
      </p:sp>
      <p:pic>
        <p:nvPicPr>
          <p:cNvPr id="3" name="Image 0" descr="media/img_0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0028" y="1325880"/>
            <a:ext cx="7168896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Severidad según tipo de dolor de pecho</a:t>
            </a:r>
            <a:endParaRPr lang="en-US" sz="2600" dirty="0"/>
          </a:p>
        </p:txBody>
      </p:sp>
      <p:pic>
        <p:nvPicPr>
          <p:cNvPr id="3" name="Image 0" descr="media/img_0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0028" y="1325880"/>
            <a:ext cx="7168896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Correlaciones entre variables numéricas</a:t>
            </a:r>
            <a:endParaRPr lang="en-US" sz="2600" dirty="0"/>
          </a:p>
        </p:txBody>
      </p:sp>
      <p:pic>
        <p:nvPicPr>
          <p:cNvPr id="3" name="Image 0" descr="media/img_0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0028" y="1325880"/>
            <a:ext cx="7168896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Correlaciones por centro médico</a:t>
            </a:r>
            <a:endParaRPr lang="en-US" sz="2600" dirty="0"/>
          </a:p>
        </p:txBody>
      </p:sp>
      <p:pic>
        <p:nvPicPr>
          <p:cNvPr id="3" name="Image 0" descr="media/img_0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0028" y="1325880"/>
            <a:ext cx="7168896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Poder discriminante de ca — Cleveland</a:t>
            </a:r>
            <a:endParaRPr lang="en-US" sz="2600" dirty="0"/>
          </a:p>
        </p:txBody>
      </p:sp>
      <p:pic>
        <p:nvPicPr>
          <p:cNvPr id="3" name="Image 0" descr="media/img_0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0028" y="1325880"/>
            <a:ext cx="7168896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Varianza explicada y acumulada — PCA</a:t>
            </a:r>
            <a:endParaRPr lang="en-US" sz="2600" dirty="0"/>
          </a:p>
        </p:txBody>
      </p:sp>
      <p:pic>
        <p:nvPicPr>
          <p:cNvPr id="3" name="Image 0" descr="media/img_0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0028" y="1325880"/>
            <a:ext cx="7168896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Contribución de las variables por componente</a:t>
            </a:r>
            <a:endParaRPr lang="en-US" sz="2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1672" cy="914400"/>
        </p:xfrm>
        <a:graphic>
          <a:graphicData uri="http://schemas.openxmlformats.org/drawingml/2006/table">
            <a:tbl>
              <a:tblPr/>
              <a:tblGrid>
                <a:gridCol w="2218334"/>
                <a:gridCol w="2218334"/>
                <a:gridCol w="2218334"/>
                <a:gridCol w="2218334"/>
                <a:gridCol w="2218334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Dim.1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Dim.2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Dim.3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Dim.4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age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36.47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1.23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1.93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1.49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trestbps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16.27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10.63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41.30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26.26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chol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1.63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77.52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19.12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1.62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thalch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24.83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10.50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27.77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4.56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oldpeak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20.79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0.12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9.87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66.07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Individuos en el espacio PCA, coloreados por severidad</a:t>
            </a:r>
            <a:endParaRPr lang="en-US" sz="2600" dirty="0"/>
          </a:p>
        </p:txBody>
      </p:sp>
      <p:pic>
        <p:nvPicPr>
          <p:cNvPr id="3" name="Image 0" descr="media/img_02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0028" y="1325880"/>
            <a:ext cx="7168896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Comparación entre las tres versiones del PCA</a:t>
            </a:r>
            <a:endParaRPr lang="en-US" sz="2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1672" cy="914400"/>
        </p:xfrm>
        <a:graphic>
          <a:graphicData uri="http://schemas.openxmlformats.org/drawingml/2006/table">
            <a:tbl>
              <a:tblPr/>
              <a:tblGrid>
                <a:gridCol w="1584525"/>
                <a:gridCol w="1584525"/>
                <a:gridCol w="1584525"/>
                <a:gridCol w="1584525"/>
                <a:gridCol w="1584525"/>
                <a:gridCol w="1584525"/>
                <a:gridCol w="1584525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Version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Var_PC1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Var_PC2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Acumulada_4Comp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Dominante_PC1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Dominante_PC2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PCA principal (920, imputado)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920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33.66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20.31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88.31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age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chol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PCA casos completos (718)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718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35.52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20.00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87.91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age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chol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PCA Cleveland extendido (con ca)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299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34.53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18.39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80.70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age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chol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Método de la silueta — análisis principal</a:t>
            </a:r>
            <a:endParaRPr lang="en-US" sz="2600" dirty="0"/>
          </a:p>
        </p:txBody>
      </p:sp>
      <p:pic>
        <p:nvPicPr>
          <p:cNvPr id="3" name="Image 0" descr="media/img_02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0028" y="1325880"/>
            <a:ext cx="7168896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Solución adoptada: clusters con k = 5</a:t>
            </a:r>
            <a:endParaRPr lang="en-US" sz="2600" dirty="0"/>
          </a:p>
        </p:txBody>
      </p:sp>
      <p:pic>
        <p:nvPicPr>
          <p:cNvPr id="3" name="Image 0" descr="media/img_02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0028" y="1325880"/>
            <a:ext cx="7168896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 clínico por cluster (k = 5, solución adoptada)</a:t>
            </a:r>
            <a:endParaRPr lang="en-US" sz="26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1672" cy="914400"/>
        </p:xfrm>
        <a:graphic>
          <a:graphicData uri="http://schemas.openxmlformats.org/drawingml/2006/table">
            <a:tbl>
              <a:tblPr/>
              <a:tblGrid>
                <a:gridCol w="1584525"/>
                <a:gridCol w="1584525"/>
                <a:gridCol w="1584525"/>
                <a:gridCol w="1584525"/>
                <a:gridCol w="1584525"/>
                <a:gridCol w="1584525"/>
                <a:gridCol w="1584525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cluster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age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trestbps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chol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thalch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oldpeak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92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60.02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146.35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247.38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127.20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2.81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81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54.75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133.95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351.11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137.64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1.01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115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56.78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153.85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234.55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142.06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0.47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223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44.06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124.13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233.16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161.57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0.30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207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56.53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123.04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227.34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122.29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1.04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Severidad por cluster (k = 5)</a:t>
            </a:r>
            <a:endParaRPr lang="en-US" sz="2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1672" cy="914400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Cluster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Ausencia (%)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Presencia (%)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10.9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89.1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38.3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61.7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56.5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43.5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80.7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19.3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41.5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58.5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Alternativa evaluada: clusters con k = 2</a:t>
            </a:r>
            <a:endParaRPr lang="en-US" sz="2600" dirty="0"/>
          </a:p>
        </p:txBody>
      </p:sp>
      <p:pic>
        <p:nvPicPr>
          <p:cNvPr id="3" name="Image 0" descr="media/img_02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0028" y="1325880"/>
            <a:ext cx="7168896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Cobertura de cada centro médico en la clusterización</a:t>
            </a:r>
            <a:endParaRPr lang="en-US" sz="26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1672" cy="914400"/>
        </p:xfrm>
        <a:graphic>
          <a:graphicData uri="http://schemas.openxmlformats.org/drawingml/2006/table">
            <a:tbl>
              <a:tblPr/>
              <a:tblGrid>
                <a:gridCol w="2772918"/>
                <a:gridCol w="2772918"/>
                <a:gridCol w="2772918"/>
                <a:gridCol w="2772918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Centro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N_original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N_en_clustering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Porcentaje_incluido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Cleveland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304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304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100.0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Hungary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293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270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92.2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Switzerland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123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0.0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VA Long Beach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200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144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72.0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Centro médico por cluster (k = 5)</a:t>
            </a:r>
            <a:endParaRPr lang="en-US" sz="26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1672" cy="914400"/>
        </p:xfrm>
        <a:graphic>
          <a:graphicData uri="http://schemas.openxmlformats.org/drawingml/2006/table">
            <a:tbl>
              <a:tblPr/>
              <a:tblGrid>
                <a:gridCol w="2218334"/>
                <a:gridCol w="2218334"/>
                <a:gridCol w="2218334"/>
                <a:gridCol w="2218334"/>
                <a:gridCol w="2218334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Cluster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Cleveland (%)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Hungary (%)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Switzerland (%)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VA Long Beach (%)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47.8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19.6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0.0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32.6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39.5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39.5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0.0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21.0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44.3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40.9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0.0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14.8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49.8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47.5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0.0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2.7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31.9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32.4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0.0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35.7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Método de la silueta — Cleveland</a:t>
            </a:r>
            <a:endParaRPr lang="en-US" sz="2600" dirty="0"/>
          </a:p>
        </p:txBody>
      </p:sp>
      <p:pic>
        <p:nvPicPr>
          <p:cNvPr id="3" name="Image 0" descr="media/img_03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0028" y="1325880"/>
            <a:ext cx="7168896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Solución adoptada en Cleveland: clusters con k = 3</a:t>
            </a:r>
            <a:endParaRPr lang="en-US" sz="2600" dirty="0"/>
          </a:p>
        </p:txBody>
      </p:sp>
      <p:pic>
        <p:nvPicPr>
          <p:cNvPr id="3" name="Image 0" descr="media/img_03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0028" y="1325880"/>
            <a:ext cx="7168896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A2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 clínico por cluster — Cleveland (k = 3, solución adoptada)</a:t>
            </a:r>
            <a:endParaRPr lang="en-US" sz="20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1672" cy="914400"/>
        </p:xfrm>
        <a:graphic>
          <a:graphicData uri="http://schemas.openxmlformats.org/drawingml/2006/table">
            <a:tbl>
              <a:tblPr/>
              <a:tblGrid>
                <a:gridCol w="1386459"/>
                <a:gridCol w="1386459"/>
                <a:gridCol w="1386459"/>
                <a:gridCol w="1386459"/>
                <a:gridCol w="1386459"/>
                <a:gridCol w="1386459"/>
                <a:gridCol w="1386459"/>
                <a:gridCol w="1386459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cluster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age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trestbps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chol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thalch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oldpeak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138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47.88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124.33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229.75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160.91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0.55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0.18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71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59.72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148.04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287.99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154.07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0.84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0.61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90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60.62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130.01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241.46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128.41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1.99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1.48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Validación externa — Cleveland (k = 3)</a:t>
            </a:r>
            <a:endParaRPr lang="en-US" sz="26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1672" cy="914400"/>
        </p:xfrm>
        <a:graphic>
          <a:graphicData uri="http://schemas.openxmlformats.org/drawingml/2006/table">
            <a:tbl>
              <a:tblPr/>
              <a:tblGrid>
                <a:gridCol w="2218334"/>
                <a:gridCol w="2218334"/>
                <a:gridCol w="2218334"/>
                <a:gridCol w="2218334"/>
                <a:gridCol w="2218334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Cluster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Normal (%)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Fixed defect (%)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Reversable defect (%)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Enfermedad presente (%)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68.4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3.7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27.9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23.2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54.9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5.6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39.4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47.9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35.6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10.0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54.4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80.0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Selección del número de clusters por análisis</a:t>
            </a:r>
            <a:endParaRPr lang="en-US" sz="26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1672" cy="914400"/>
        </p:xfrm>
        <a:graphic>
          <a:graphicData uri="http://schemas.openxmlformats.org/drawingml/2006/table">
            <a:tbl>
              <a:tblPr/>
              <a:tblGrid>
                <a:gridCol w="2772918"/>
                <a:gridCol w="2772918"/>
                <a:gridCol w="2772918"/>
                <a:gridCol w="2772918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Análisis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Mejor silueta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k adoptado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Justificación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Principal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k = 2 (0.260)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k = 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Mayor detalle de subgrupos clínicos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Cleveland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k = 2 (0.272)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k = 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Alineación con la progresión de ca (0,1,≥2)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Síntesis de los perfiles encontrados</a:t>
            </a:r>
            <a:endParaRPr lang="en-US" sz="26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1672" cy="914400"/>
        </p:xfrm>
        <a:graphic>
          <a:graphicData uri="http://schemas.openxmlformats.org/drawingml/2006/table">
            <a:tbl>
              <a:tblPr/>
              <a:tblGrid>
                <a:gridCol w="2772918"/>
                <a:gridCol w="2772918"/>
                <a:gridCol w="2772918"/>
                <a:gridCol w="2772918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Perfil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Edad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Frec. cardíaca máx.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Enfermedad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Bajo riesgo (k=5, Cluster 4)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44 años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161.6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19.3 %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Riesgo crítico (k=5, Cluster 1)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60 años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127.2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89.1 %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Hipercolesterolemia aislada (Cluster 2)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54.8 años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137.6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61.7 %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Limitaciones principales</a:t>
            </a:r>
            <a:endParaRPr lang="en-US" sz="26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1672" cy="914400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Limitación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Implicancia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3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Suiza excluida (chol 100% faltante)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No se valida el modelo en ese centro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Variables categóricas fuera del clustering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cp, thal, slope no participan directamente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Casos completos reduce la muestra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De 920 a 718 pacientes en el análisis principal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No es una herramienta diagnóstica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B32"/>
                          </a:solidFill>
                        </a:rPr>
                        <a:t>Los clusters son perfiles, no diagnósticos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A2B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03120"/>
            <a:ext cx="1072591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Gracias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4114800"/>
            <a:ext cx="10725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Preguntas y discusión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2026-08-17T20:13:18Z</dcterms:created>
  <dcterms:modified xsi:type="dcterms:W3CDTF">2026-08-17T20:13:18Z</dcterms:modified>
</cp:coreProperties>
</file>